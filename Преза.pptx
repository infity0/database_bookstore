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8" r:id="rId5"/>
    <p:sldId id="272" r:id="rId6"/>
    <p:sldId id="269" r:id="rId7"/>
    <p:sldId id="270" r:id="rId8"/>
    <p:sldId id="265" r:id="rId9"/>
    <p:sldId id="271" r:id="rId10"/>
    <p:sldId id="258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  <a:srgbClr val="FFC000"/>
    <a:srgbClr val="F97FF9"/>
    <a:srgbClr val="7030A0"/>
    <a:srgbClr val="5B9BD5"/>
    <a:srgbClr val="FFFFFF"/>
    <a:srgbClr val="1C8C8E"/>
    <a:srgbClr val="F4B2B2"/>
    <a:srgbClr val="BA5E5E"/>
    <a:srgbClr val="FCDE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36F3F-0C91-4BB8-BA14-7697C51EBF6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30EFB-0143-40C1-8944-9B5D7520D0BA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31480" cy="429768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149" y="233897"/>
            <a:ext cx="1132425" cy="960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98210" y="1278925"/>
            <a:ext cx="174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ЧУПО «ВШП»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4050" y="2798790"/>
            <a:ext cx="11001524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lang="en-US" alt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r>
              <a:rPr lang="en-US" alt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  <a:r>
              <a:rPr lang="en-US" alt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книжным</a:t>
            </a:r>
            <a:r>
              <a:rPr lang="en-US" alt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магазином</a:t>
            </a: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326" y="5863281"/>
            <a:ext cx="308991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3-го курса ИСИП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Шайтанов Максим Сергеевич</a:t>
            </a:r>
            <a:endParaRPr lang="ru-RU" alt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31480" cy="429768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400" y="198120"/>
            <a:ext cx="666189" cy="6781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5147" y="251626"/>
            <a:ext cx="1164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Группа 21"/>
          <p:cNvGrpSpPr/>
          <p:nvPr/>
        </p:nvGrpSpPr>
        <p:grpSpPr>
          <a:xfrm>
            <a:off x="3070280" y="1695021"/>
            <a:ext cx="6340419" cy="4297680"/>
            <a:chOff x="3751279" y="2179320"/>
            <a:chExt cx="7056858" cy="3505200"/>
          </a:xfrm>
        </p:grpSpPr>
        <p:sp>
          <p:nvSpPr>
            <p:cNvPr id="23" name="Скругленный прямоугольник 22"/>
            <p:cNvSpPr/>
            <p:nvPr/>
          </p:nvSpPr>
          <p:spPr>
            <a:xfrm>
              <a:off x="3751279" y="2179320"/>
              <a:ext cx="7056120" cy="3505200"/>
            </a:xfrm>
            <a:prstGeom prst="round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7274696" y="2179320"/>
              <a:ext cx="3533441" cy="17907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2" name="Прямоугольник 11"/>
          <p:cNvSpPr/>
          <p:nvPr/>
        </p:nvSpPr>
        <p:spPr>
          <a:xfrm>
            <a:off x="3743535" y="2565615"/>
            <a:ext cx="4984902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Основной целью курсового проекта является проектирование реляционной базы данных для книжного магазина, которая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обеспечивающей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автоматизацию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ключевых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бизнес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процессов</a:t>
            </a:r>
            <a:r>
              <a:rPr lang="ru-RU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0" y="0"/>
            <a:ext cx="8031480" cy="429768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400" y="198120"/>
            <a:ext cx="666189" cy="6781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5147" y="251626"/>
            <a:ext cx="150685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2562225" y="1266825"/>
            <a:ext cx="8553450" cy="5412105"/>
            <a:chOff x="3751279" y="2179320"/>
            <a:chExt cx="7056858" cy="3505200"/>
          </a:xfrm>
        </p:grpSpPr>
        <p:sp>
          <p:nvSpPr>
            <p:cNvPr id="12" name="Скругленный прямоугольник 22"/>
            <p:cNvSpPr/>
            <p:nvPr/>
          </p:nvSpPr>
          <p:spPr>
            <a:xfrm>
              <a:off x="3751279" y="2179320"/>
              <a:ext cx="7056120" cy="3505200"/>
            </a:xfrm>
            <a:prstGeom prst="round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7274696" y="2179320"/>
              <a:ext cx="3533441" cy="17907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919069" y="1638300"/>
            <a:ext cx="7991475" cy="489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анализ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предметной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книжный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магазин</a:t>
            </a:r>
            <a:r>
              <a:rPr lang="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сформулировать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функциональные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требования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системе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управления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altLang="ru-RU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Изучить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теоретические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аспекты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методологии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проектирования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реляционных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.</a:t>
            </a:r>
            <a:endParaRPr lang="en-US" altLang="ru-RU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концептуальную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управления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книжным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магазином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altLang="ru-RU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Спроектировать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логическую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реляционную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схему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основе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концептуальной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altLang="ru-RU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Определить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ключевые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аспекты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физической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типы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индексы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реализации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выбранной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СУБД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altLang="ru-RU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Обосновать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выбор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инструментов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проектирования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СУБД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реализации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altLang="ru-RU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Реализовать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структуру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спроектированной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базы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данных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средствами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выбранной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СУБД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предоставить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SQL DDL </a:t>
            </a:r>
            <a:r>
              <a:rPr lang="en-US" alt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скрипты</a:t>
            </a:r>
            <a:r>
              <a:rPr lang="en-US" altLang="ru-RU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en-US" altLang="ru-RU" sz="16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31480" cy="42976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400" y="198120"/>
            <a:ext cx="666189" cy="678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5411" y="229969"/>
            <a:ext cx="4869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чего нужна эта БД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3093750" y="1710690"/>
            <a:ext cx="6340419" cy="4297680"/>
            <a:chOff x="3751279" y="2179320"/>
            <a:chExt cx="7056858" cy="3505200"/>
          </a:xfrm>
        </p:grpSpPr>
        <p:sp>
          <p:nvSpPr>
            <p:cNvPr id="8" name="Скругленный прямоугольник 22"/>
            <p:cNvSpPr/>
            <p:nvPr/>
          </p:nvSpPr>
          <p:spPr>
            <a:xfrm>
              <a:off x="3751279" y="2179320"/>
              <a:ext cx="7056120" cy="3505200"/>
            </a:xfrm>
            <a:prstGeom prst="round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7274696" y="2179320"/>
              <a:ext cx="3533441" cy="17907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312590" y="3259365"/>
            <a:ext cx="63633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F8FAFF"/>
                </a:solidFill>
                <a:effectLst/>
                <a:latin typeface="quote-cjk-patch"/>
              </a:rPr>
              <a:t>В современных условиях розничной торговли база данных становится незаменимым инструментом для эффективного управления магазином в том числе и для магазина  мороженого. 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31480" cy="429768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400" y="198120"/>
            <a:ext cx="666189" cy="6781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0625" y="198120"/>
            <a:ext cx="4974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Какие проблемы решает</a:t>
            </a:r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3516340" y="2260443"/>
            <a:ext cx="5159320" cy="3763851"/>
            <a:chOff x="3751279" y="2179320"/>
            <a:chExt cx="7056858" cy="3505200"/>
          </a:xfrm>
        </p:grpSpPr>
        <p:sp>
          <p:nvSpPr>
            <p:cNvPr id="10" name="Скругленный прямоугольник 22"/>
            <p:cNvSpPr/>
            <p:nvPr/>
          </p:nvSpPr>
          <p:spPr>
            <a:xfrm>
              <a:off x="3751279" y="2179320"/>
              <a:ext cx="7056120" cy="3505200"/>
            </a:xfrm>
            <a:prstGeom prst="round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7274696" y="2179320"/>
              <a:ext cx="3533441" cy="17907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138930" y="2820035"/>
            <a:ext cx="4029710" cy="19367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ключевых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процессов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Устранение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ручного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труда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аналитики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клиентами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31480" cy="42976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400" y="198120"/>
            <a:ext cx="666189" cy="678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6807" y="275600"/>
            <a:ext cx="6093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Механизмы автоматизации</a:t>
            </a:r>
            <a:endParaRPr lang="ru-RU" sz="3200" dirty="0">
              <a:solidFill>
                <a:schemeClr val="bg1"/>
              </a:solidFill>
            </a:endParaRPr>
          </a:p>
        </p:txBody>
      </p:sp>
      <p:grpSp>
        <p:nvGrpSpPr>
          <p:cNvPr id="8" name="Группа 7"/>
          <p:cNvGrpSpPr/>
          <p:nvPr/>
        </p:nvGrpSpPr>
        <p:grpSpPr>
          <a:xfrm>
            <a:off x="3595685" y="2590800"/>
            <a:ext cx="5253039" cy="2736103"/>
            <a:chOff x="3751279" y="2179320"/>
            <a:chExt cx="7056858" cy="3505200"/>
          </a:xfrm>
        </p:grpSpPr>
        <p:sp>
          <p:nvSpPr>
            <p:cNvPr id="9" name="Скругленный прямоугольник 22"/>
            <p:cNvSpPr/>
            <p:nvPr/>
          </p:nvSpPr>
          <p:spPr>
            <a:xfrm>
              <a:off x="3751279" y="2179320"/>
              <a:ext cx="7056120" cy="3505200"/>
            </a:xfrm>
            <a:prstGeom prst="round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7274696" y="2179320"/>
              <a:ext cx="3533441" cy="17907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775835" y="2919095"/>
            <a:ext cx="3088005" cy="19818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1.Триггер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2.Процедуры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3.Представления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4.Функция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5288" y="199500"/>
            <a:ext cx="664833" cy="676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43299" y="0"/>
            <a:ext cx="3105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 descr="E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876300"/>
            <a:ext cx="5654040" cy="56654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31480" cy="42976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400" y="166271"/>
            <a:ext cx="666189" cy="678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6145" y="198120"/>
            <a:ext cx="2539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75686" y="2413338"/>
            <a:ext cx="76019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Реализована автоматизация расчётов с помощью хранимых процедур триггеров, а так же функций</a:t>
            </a:r>
            <a:endParaRPr lang="ru-RU" dirty="0"/>
          </a:p>
          <a:p>
            <a:endParaRPr lang="ru-RU" dirty="0"/>
          </a:p>
          <a:p>
            <a:r>
              <a:rPr lang="ru-RU" dirty="0"/>
              <a:t>БД прошла тестирование и показала свою работоспособность</a:t>
            </a:r>
            <a:endParaRPr lang="ru-RU" dirty="0"/>
          </a:p>
          <a:p>
            <a:endParaRPr lang="ru-RU" dirty="0"/>
          </a:p>
          <a:p>
            <a:r>
              <a:rPr lang="ru-RU" dirty="0"/>
              <a:t>Систему можно развивать и добавлять новые возможности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400" y="198120"/>
            <a:ext cx="666189" cy="67818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63611" y="5585623"/>
            <a:ext cx="566483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https://github.com/Infity0/Database_BookStore.git</a:t>
            </a:r>
            <a:endParaRPr lang="en-US" alt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6145" y="198120"/>
            <a:ext cx="3784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Ссылки на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61793" y="1081266"/>
            <a:ext cx="2868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репозитория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Изображение 1" descr="qr-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950" y="1758315"/>
            <a:ext cx="3340735" cy="33407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5288" y="199500"/>
            <a:ext cx="664833" cy="676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47905" y="2782718"/>
            <a:ext cx="6496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1697</Words>
  <Application>WPS Presentation</Application>
  <PresentationFormat>Широкоэкранный</PresentationFormat>
  <Paragraphs>60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quote-cjk-patch</vt:lpstr>
      <vt:lpstr>Segoe Print</vt:lpstr>
      <vt:lpstr>Microsoft YaHei</vt:lpstr>
      <vt:lpstr>Arial Unicode MS</vt:lpstr>
      <vt:lpstr>Calibri Light</vt:lpstr>
      <vt:lpstr>Calibri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MAKC</dc:creator>
  <cp:lastModifiedBy>МАКСИМ</cp:lastModifiedBy>
  <cp:revision>48</cp:revision>
  <dcterms:created xsi:type="dcterms:W3CDTF">2025-06-04T18:59:00Z</dcterms:created>
  <dcterms:modified xsi:type="dcterms:W3CDTF">2025-06-25T07:59:07Z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A1AD91F5BDB84C87B568593DB9699404_13</vt:lpwstr>
  </property>
  <property fmtid="{D5CDD505-2E9C-101B-9397-08002B2CF9AE}" pid="3" name="KSOProductBuildVer">
    <vt:lpwstr>1049-12.2.0.21183</vt:lpwstr>
  </property>
</Properties>
</file>